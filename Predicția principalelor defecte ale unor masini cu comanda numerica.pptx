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89FBD6-5CFD-A452-2C52-84B50F80D7AF}" v="89" dt="2025-11-18T15:28:25.8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7A1F28-1487-42B1-B3C7-FC98615A6B2A}" type="doc">
      <dgm:prSet loTypeId="urn:microsoft.com/office/officeart/2005/8/layout/vProcess5" loCatId="process" qsTypeId="urn:microsoft.com/office/officeart/2005/8/quickstyle/simple4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1E541D35-6705-4733-9423-47ACA60221B1}">
      <dgm:prSet/>
      <dgm:spPr/>
      <dgm:t>
        <a:bodyPr/>
        <a:lstStyle/>
        <a:p>
          <a:r>
            <a:rPr lang="en-US" b="0" i="0" baseline="0"/>
            <a:t>Disponibilitate: Reducerea timpului neplanificat de oprire cu 30–35%.</a:t>
          </a:r>
          <a:endParaRPr lang="en-US"/>
        </a:p>
      </dgm:t>
    </dgm:pt>
    <dgm:pt modelId="{801790DA-C4A5-49AB-BF74-8E21F5050268}" type="parTrans" cxnId="{CFBC0682-8163-4C55-B498-8612A122A5B0}">
      <dgm:prSet/>
      <dgm:spPr/>
      <dgm:t>
        <a:bodyPr/>
        <a:lstStyle/>
        <a:p>
          <a:endParaRPr lang="en-US"/>
        </a:p>
      </dgm:t>
    </dgm:pt>
    <dgm:pt modelId="{7601AAB5-0A9C-46CF-AB4A-F90F563C3DDA}" type="sibTrans" cxnId="{CFBC0682-8163-4C55-B498-8612A122A5B0}">
      <dgm:prSet/>
      <dgm:spPr/>
      <dgm:t>
        <a:bodyPr/>
        <a:lstStyle/>
        <a:p>
          <a:endParaRPr lang="en-US"/>
        </a:p>
      </dgm:t>
    </dgm:pt>
    <dgm:pt modelId="{CDC0EF7A-2BC4-4252-A284-9D4DC90AA86A}">
      <dgm:prSet/>
      <dgm:spPr/>
      <dgm:t>
        <a:bodyPr/>
        <a:lstStyle/>
        <a:p>
          <a:r>
            <a:rPr lang="en-US" b="0" i="0" baseline="0"/>
            <a:t>Costuri: Economie la costurile de mentenanță de 20–25%.</a:t>
          </a:r>
          <a:endParaRPr lang="en-US"/>
        </a:p>
      </dgm:t>
    </dgm:pt>
    <dgm:pt modelId="{E2771435-1B8E-4779-BA1E-4A5370FD8346}" type="parTrans" cxnId="{0C3BA9D8-4321-41D6-813D-11BCE84D75DC}">
      <dgm:prSet/>
      <dgm:spPr/>
      <dgm:t>
        <a:bodyPr/>
        <a:lstStyle/>
        <a:p>
          <a:endParaRPr lang="en-US"/>
        </a:p>
      </dgm:t>
    </dgm:pt>
    <dgm:pt modelId="{3A5F88DE-96F2-420C-A0F7-61B2CCD6AF0B}" type="sibTrans" cxnId="{0C3BA9D8-4321-41D6-813D-11BCE84D75DC}">
      <dgm:prSet/>
      <dgm:spPr/>
      <dgm:t>
        <a:bodyPr/>
        <a:lstStyle/>
        <a:p>
          <a:endParaRPr lang="en-US"/>
        </a:p>
      </dgm:t>
    </dgm:pt>
    <dgm:pt modelId="{1A732FFF-57FE-4BA5-9778-AD21F28F9EA5}">
      <dgm:prSet/>
      <dgm:spPr/>
      <dgm:t>
        <a:bodyPr/>
        <a:lstStyle/>
        <a:p>
          <a:r>
            <a:rPr lang="en-US" b="0" i="0" baseline="0"/>
            <a:t>Calitate/Siguranță: Asigurarea unei calități constante a pieselor și creșterea siguranței operaționale.</a:t>
          </a:r>
          <a:endParaRPr lang="en-US"/>
        </a:p>
      </dgm:t>
    </dgm:pt>
    <dgm:pt modelId="{315A4E77-FFC9-4D65-934C-FDF197AD86FE}" type="parTrans" cxnId="{500B612B-3D3B-4D64-BC17-D0023BBFA1EA}">
      <dgm:prSet/>
      <dgm:spPr/>
      <dgm:t>
        <a:bodyPr/>
        <a:lstStyle/>
        <a:p>
          <a:endParaRPr lang="en-US"/>
        </a:p>
      </dgm:t>
    </dgm:pt>
    <dgm:pt modelId="{2E598004-02F2-458F-BA54-A1B001C10828}" type="sibTrans" cxnId="{500B612B-3D3B-4D64-BC17-D0023BBFA1EA}">
      <dgm:prSet/>
      <dgm:spPr/>
      <dgm:t>
        <a:bodyPr/>
        <a:lstStyle/>
        <a:p>
          <a:endParaRPr lang="en-US"/>
        </a:p>
      </dgm:t>
    </dgm:pt>
    <dgm:pt modelId="{1E3892AD-DF56-43F6-B711-D133844B09E5}" type="pres">
      <dgm:prSet presAssocID="{2F7A1F28-1487-42B1-B3C7-FC98615A6B2A}" presName="outerComposite" presStyleCnt="0">
        <dgm:presLayoutVars>
          <dgm:chMax val="5"/>
          <dgm:dir/>
          <dgm:resizeHandles val="exact"/>
        </dgm:presLayoutVars>
      </dgm:prSet>
      <dgm:spPr/>
    </dgm:pt>
    <dgm:pt modelId="{8F633761-4410-4319-9700-293E52BA1B03}" type="pres">
      <dgm:prSet presAssocID="{2F7A1F28-1487-42B1-B3C7-FC98615A6B2A}" presName="dummyMaxCanvas" presStyleCnt="0">
        <dgm:presLayoutVars/>
      </dgm:prSet>
      <dgm:spPr/>
    </dgm:pt>
    <dgm:pt modelId="{258FB3DB-B19C-43C2-9E3D-CF50866D6750}" type="pres">
      <dgm:prSet presAssocID="{2F7A1F28-1487-42B1-B3C7-FC98615A6B2A}" presName="ThreeNodes_1" presStyleLbl="node1" presStyleIdx="0" presStyleCnt="3">
        <dgm:presLayoutVars>
          <dgm:bulletEnabled val="1"/>
        </dgm:presLayoutVars>
      </dgm:prSet>
      <dgm:spPr/>
    </dgm:pt>
    <dgm:pt modelId="{6B5F6091-E477-43F7-A2EA-F4C1FB4BBEFD}" type="pres">
      <dgm:prSet presAssocID="{2F7A1F28-1487-42B1-B3C7-FC98615A6B2A}" presName="ThreeNodes_2" presStyleLbl="node1" presStyleIdx="1" presStyleCnt="3">
        <dgm:presLayoutVars>
          <dgm:bulletEnabled val="1"/>
        </dgm:presLayoutVars>
      </dgm:prSet>
      <dgm:spPr/>
    </dgm:pt>
    <dgm:pt modelId="{DFB38F06-9FE7-4696-B569-F27B78414755}" type="pres">
      <dgm:prSet presAssocID="{2F7A1F28-1487-42B1-B3C7-FC98615A6B2A}" presName="ThreeNodes_3" presStyleLbl="node1" presStyleIdx="2" presStyleCnt="3">
        <dgm:presLayoutVars>
          <dgm:bulletEnabled val="1"/>
        </dgm:presLayoutVars>
      </dgm:prSet>
      <dgm:spPr/>
    </dgm:pt>
    <dgm:pt modelId="{7480E4E9-5D7B-42CF-8E38-E444361A2D70}" type="pres">
      <dgm:prSet presAssocID="{2F7A1F28-1487-42B1-B3C7-FC98615A6B2A}" presName="ThreeConn_1-2" presStyleLbl="fgAccFollowNode1" presStyleIdx="0" presStyleCnt="2">
        <dgm:presLayoutVars>
          <dgm:bulletEnabled val="1"/>
        </dgm:presLayoutVars>
      </dgm:prSet>
      <dgm:spPr/>
    </dgm:pt>
    <dgm:pt modelId="{71C32146-F72E-4E56-B349-4DB73C52F4BC}" type="pres">
      <dgm:prSet presAssocID="{2F7A1F28-1487-42B1-B3C7-FC98615A6B2A}" presName="ThreeConn_2-3" presStyleLbl="fgAccFollowNode1" presStyleIdx="1" presStyleCnt="2">
        <dgm:presLayoutVars>
          <dgm:bulletEnabled val="1"/>
        </dgm:presLayoutVars>
      </dgm:prSet>
      <dgm:spPr/>
    </dgm:pt>
    <dgm:pt modelId="{DD3F1DDA-A6F7-4FA7-8113-CC7E222FFEB4}" type="pres">
      <dgm:prSet presAssocID="{2F7A1F28-1487-42B1-B3C7-FC98615A6B2A}" presName="ThreeNodes_1_text" presStyleLbl="node1" presStyleIdx="2" presStyleCnt="3">
        <dgm:presLayoutVars>
          <dgm:bulletEnabled val="1"/>
        </dgm:presLayoutVars>
      </dgm:prSet>
      <dgm:spPr/>
    </dgm:pt>
    <dgm:pt modelId="{9912A4A2-79F8-4402-8E3F-A2E9D305334F}" type="pres">
      <dgm:prSet presAssocID="{2F7A1F28-1487-42B1-B3C7-FC98615A6B2A}" presName="ThreeNodes_2_text" presStyleLbl="node1" presStyleIdx="2" presStyleCnt="3">
        <dgm:presLayoutVars>
          <dgm:bulletEnabled val="1"/>
        </dgm:presLayoutVars>
      </dgm:prSet>
      <dgm:spPr/>
    </dgm:pt>
    <dgm:pt modelId="{1BD73BF4-4BF7-4EF2-9E5C-8CCC9C7550BA}" type="pres">
      <dgm:prSet presAssocID="{2F7A1F28-1487-42B1-B3C7-FC98615A6B2A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72AFB713-675A-462B-8D7C-3C46F2B31027}" type="presOf" srcId="{1E541D35-6705-4733-9423-47ACA60221B1}" destId="{258FB3DB-B19C-43C2-9E3D-CF50866D6750}" srcOrd="0" destOrd="0" presId="urn:microsoft.com/office/officeart/2005/8/layout/vProcess5"/>
    <dgm:cxn modelId="{3720B021-2CE3-4A0E-9C63-F48042DF1C86}" type="presOf" srcId="{CDC0EF7A-2BC4-4252-A284-9D4DC90AA86A}" destId="{9912A4A2-79F8-4402-8E3F-A2E9D305334F}" srcOrd="1" destOrd="0" presId="urn:microsoft.com/office/officeart/2005/8/layout/vProcess5"/>
    <dgm:cxn modelId="{500B612B-3D3B-4D64-BC17-D0023BBFA1EA}" srcId="{2F7A1F28-1487-42B1-B3C7-FC98615A6B2A}" destId="{1A732FFF-57FE-4BA5-9778-AD21F28F9EA5}" srcOrd="2" destOrd="0" parTransId="{315A4E77-FFC9-4D65-934C-FDF197AD86FE}" sibTransId="{2E598004-02F2-458F-BA54-A1B001C10828}"/>
    <dgm:cxn modelId="{79ECB239-8B55-4E3D-A0B8-54EC593E46D0}" type="presOf" srcId="{3A5F88DE-96F2-420C-A0F7-61B2CCD6AF0B}" destId="{71C32146-F72E-4E56-B349-4DB73C52F4BC}" srcOrd="0" destOrd="0" presId="urn:microsoft.com/office/officeart/2005/8/layout/vProcess5"/>
    <dgm:cxn modelId="{2644D056-306E-4428-93FE-E68567FC32B1}" type="presOf" srcId="{2F7A1F28-1487-42B1-B3C7-FC98615A6B2A}" destId="{1E3892AD-DF56-43F6-B711-D133844B09E5}" srcOrd="0" destOrd="0" presId="urn:microsoft.com/office/officeart/2005/8/layout/vProcess5"/>
    <dgm:cxn modelId="{BBF0C67C-12D7-4817-A7F2-3AFF8E39A22F}" type="presOf" srcId="{CDC0EF7A-2BC4-4252-A284-9D4DC90AA86A}" destId="{6B5F6091-E477-43F7-A2EA-F4C1FB4BBEFD}" srcOrd="0" destOrd="0" presId="urn:microsoft.com/office/officeart/2005/8/layout/vProcess5"/>
    <dgm:cxn modelId="{CFBC0682-8163-4C55-B498-8612A122A5B0}" srcId="{2F7A1F28-1487-42B1-B3C7-FC98615A6B2A}" destId="{1E541D35-6705-4733-9423-47ACA60221B1}" srcOrd="0" destOrd="0" parTransId="{801790DA-C4A5-49AB-BF74-8E21F5050268}" sibTransId="{7601AAB5-0A9C-46CF-AB4A-F90F563C3DDA}"/>
    <dgm:cxn modelId="{1ECCF593-5D8C-49B3-8139-32EBCBB2EB8C}" type="presOf" srcId="{1A732FFF-57FE-4BA5-9778-AD21F28F9EA5}" destId="{1BD73BF4-4BF7-4EF2-9E5C-8CCC9C7550BA}" srcOrd="1" destOrd="0" presId="urn:microsoft.com/office/officeart/2005/8/layout/vProcess5"/>
    <dgm:cxn modelId="{771679B9-E168-40D8-A149-3A045714AF7B}" type="presOf" srcId="{7601AAB5-0A9C-46CF-AB4A-F90F563C3DDA}" destId="{7480E4E9-5D7B-42CF-8E38-E444361A2D70}" srcOrd="0" destOrd="0" presId="urn:microsoft.com/office/officeart/2005/8/layout/vProcess5"/>
    <dgm:cxn modelId="{0C3BA9D8-4321-41D6-813D-11BCE84D75DC}" srcId="{2F7A1F28-1487-42B1-B3C7-FC98615A6B2A}" destId="{CDC0EF7A-2BC4-4252-A284-9D4DC90AA86A}" srcOrd="1" destOrd="0" parTransId="{E2771435-1B8E-4779-BA1E-4A5370FD8346}" sibTransId="{3A5F88DE-96F2-420C-A0F7-61B2CCD6AF0B}"/>
    <dgm:cxn modelId="{A40130DC-886D-4994-9486-45A32BE77F3E}" type="presOf" srcId="{1E541D35-6705-4733-9423-47ACA60221B1}" destId="{DD3F1DDA-A6F7-4FA7-8113-CC7E222FFEB4}" srcOrd="1" destOrd="0" presId="urn:microsoft.com/office/officeart/2005/8/layout/vProcess5"/>
    <dgm:cxn modelId="{D8E048E5-87DA-4B0F-AA72-6A59772FB70A}" type="presOf" srcId="{1A732FFF-57FE-4BA5-9778-AD21F28F9EA5}" destId="{DFB38F06-9FE7-4696-B569-F27B78414755}" srcOrd="0" destOrd="0" presId="urn:microsoft.com/office/officeart/2005/8/layout/vProcess5"/>
    <dgm:cxn modelId="{50B1B5B3-BDC7-4CB3-BE5D-8A71CADF73C6}" type="presParOf" srcId="{1E3892AD-DF56-43F6-B711-D133844B09E5}" destId="{8F633761-4410-4319-9700-293E52BA1B03}" srcOrd="0" destOrd="0" presId="urn:microsoft.com/office/officeart/2005/8/layout/vProcess5"/>
    <dgm:cxn modelId="{C725B610-2E82-42AD-B483-58C7E099BA42}" type="presParOf" srcId="{1E3892AD-DF56-43F6-B711-D133844B09E5}" destId="{258FB3DB-B19C-43C2-9E3D-CF50866D6750}" srcOrd="1" destOrd="0" presId="urn:microsoft.com/office/officeart/2005/8/layout/vProcess5"/>
    <dgm:cxn modelId="{BBAA53B6-3CF0-46DD-A0F3-B3C6812866C1}" type="presParOf" srcId="{1E3892AD-DF56-43F6-B711-D133844B09E5}" destId="{6B5F6091-E477-43F7-A2EA-F4C1FB4BBEFD}" srcOrd="2" destOrd="0" presId="urn:microsoft.com/office/officeart/2005/8/layout/vProcess5"/>
    <dgm:cxn modelId="{9EF8567B-AAA4-4879-B082-07086E66803C}" type="presParOf" srcId="{1E3892AD-DF56-43F6-B711-D133844B09E5}" destId="{DFB38F06-9FE7-4696-B569-F27B78414755}" srcOrd="3" destOrd="0" presId="urn:microsoft.com/office/officeart/2005/8/layout/vProcess5"/>
    <dgm:cxn modelId="{784FE1A9-5360-4E15-85AD-3D0444794D73}" type="presParOf" srcId="{1E3892AD-DF56-43F6-B711-D133844B09E5}" destId="{7480E4E9-5D7B-42CF-8E38-E444361A2D70}" srcOrd="4" destOrd="0" presId="urn:microsoft.com/office/officeart/2005/8/layout/vProcess5"/>
    <dgm:cxn modelId="{F3AC3F54-9604-455C-B470-D3747CF05D33}" type="presParOf" srcId="{1E3892AD-DF56-43F6-B711-D133844B09E5}" destId="{71C32146-F72E-4E56-B349-4DB73C52F4BC}" srcOrd="5" destOrd="0" presId="urn:microsoft.com/office/officeart/2005/8/layout/vProcess5"/>
    <dgm:cxn modelId="{FF6957B6-1E0F-4023-B569-FED34D7D8E2E}" type="presParOf" srcId="{1E3892AD-DF56-43F6-B711-D133844B09E5}" destId="{DD3F1DDA-A6F7-4FA7-8113-CC7E222FFEB4}" srcOrd="6" destOrd="0" presId="urn:microsoft.com/office/officeart/2005/8/layout/vProcess5"/>
    <dgm:cxn modelId="{B9C925D2-ECD2-420C-8AD7-C2FF60109BA1}" type="presParOf" srcId="{1E3892AD-DF56-43F6-B711-D133844B09E5}" destId="{9912A4A2-79F8-4402-8E3F-A2E9D305334F}" srcOrd="7" destOrd="0" presId="urn:microsoft.com/office/officeart/2005/8/layout/vProcess5"/>
    <dgm:cxn modelId="{B9979AED-F144-4BC0-B803-8FAA19A42796}" type="presParOf" srcId="{1E3892AD-DF56-43F6-B711-D133844B09E5}" destId="{1BD73BF4-4BF7-4EF2-9E5C-8CCC9C7550B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8FB3DB-B19C-43C2-9E3D-CF50866D6750}">
      <dsp:nvSpPr>
        <dsp:cNvPr id="0" name=""/>
        <dsp:cNvSpPr/>
      </dsp:nvSpPr>
      <dsp:spPr>
        <a:xfrm>
          <a:off x="0" y="0"/>
          <a:ext cx="5307393" cy="16713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Disponibilitate: Reducerea timpului neplanificat de oprire cu 30–35%.</a:t>
          </a:r>
          <a:endParaRPr lang="en-US" sz="2000" kern="1200"/>
        </a:p>
      </dsp:txBody>
      <dsp:txXfrm>
        <a:off x="48951" y="48951"/>
        <a:ext cx="3503909" cy="1573417"/>
      </dsp:txXfrm>
    </dsp:sp>
    <dsp:sp modelId="{6B5F6091-E477-43F7-A2EA-F4C1FB4BBEFD}">
      <dsp:nvSpPr>
        <dsp:cNvPr id="0" name=""/>
        <dsp:cNvSpPr/>
      </dsp:nvSpPr>
      <dsp:spPr>
        <a:xfrm>
          <a:off x="468299" y="1949872"/>
          <a:ext cx="5307393" cy="16713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Costuri: Economie la costurile de mentenanță de 20–25%.</a:t>
          </a:r>
          <a:endParaRPr lang="en-US" sz="2000" kern="1200"/>
        </a:p>
      </dsp:txBody>
      <dsp:txXfrm>
        <a:off x="517250" y="1998823"/>
        <a:ext cx="3654834" cy="1573417"/>
      </dsp:txXfrm>
    </dsp:sp>
    <dsp:sp modelId="{DFB38F06-9FE7-4696-B569-F27B78414755}">
      <dsp:nvSpPr>
        <dsp:cNvPr id="0" name=""/>
        <dsp:cNvSpPr/>
      </dsp:nvSpPr>
      <dsp:spPr>
        <a:xfrm>
          <a:off x="936598" y="3899745"/>
          <a:ext cx="5307393" cy="16713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Calitate/Siguranță: Asigurarea unei calități constante a pieselor și creșterea siguranței operaționale.</a:t>
          </a:r>
          <a:endParaRPr lang="en-US" sz="2000" kern="1200"/>
        </a:p>
      </dsp:txBody>
      <dsp:txXfrm>
        <a:off x="985549" y="3948696"/>
        <a:ext cx="3654834" cy="1573417"/>
      </dsp:txXfrm>
    </dsp:sp>
    <dsp:sp modelId="{7480E4E9-5D7B-42CF-8E38-E444361A2D70}">
      <dsp:nvSpPr>
        <dsp:cNvPr id="0" name=""/>
        <dsp:cNvSpPr/>
      </dsp:nvSpPr>
      <dsp:spPr>
        <a:xfrm>
          <a:off x="4221035" y="1267417"/>
          <a:ext cx="1086357" cy="1086357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465465" y="1267417"/>
        <a:ext cx="597497" cy="817484"/>
      </dsp:txXfrm>
    </dsp:sp>
    <dsp:sp modelId="{71C32146-F72E-4E56-B349-4DB73C52F4BC}">
      <dsp:nvSpPr>
        <dsp:cNvPr id="0" name=""/>
        <dsp:cNvSpPr/>
      </dsp:nvSpPr>
      <dsp:spPr>
        <a:xfrm>
          <a:off x="4689334" y="3206147"/>
          <a:ext cx="1086357" cy="1086357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933764" y="3206147"/>
        <a:ext cx="597497" cy="8174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65E0-EC20-4873-BC95-43D8EAA90EB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B9B6-14DB-48E5-AF1F-3B9AC32EB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40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65E0-EC20-4873-BC95-43D8EAA90EB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B9B6-14DB-48E5-AF1F-3B9AC32EB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06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65E0-EC20-4873-BC95-43D8EAA90EB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B9B6-14DB-48E5-AF1F-3B9AC32EB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7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65E0-EC20-4873-BC95-43D8EAA90EB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B9B6-14DB-48E5-AF1F-3B9AC32EB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3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65E0-EC20-4873-BC95-43D8EAA90EB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B9B6-14DB-48E5-AF1F-3B9AC32EB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17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65E0-EC20-4873-BC95-43D8EAA90EB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B9B6-14DB-48E5-AF1F-3B9AC32EB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459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65E0-EC20-4873-BC95-43D8EAA90EB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B9B6-14DB-48E5-AF1F-3B9AC32EB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90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65E0-EC20-4873-BC95-43D8EAA90EB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B9B6-14DB-48E5-AF1F-3B9AC32EB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67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18BC65E0-EC20-4873-BC95-43D8EAA90EB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2C4B9B6-14DB-48E5-AF1F-3B9AC32EB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34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65E0-EC20-4873-BC95-43D8EAA90EB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B9B6-14DB-48E5-AF1F-3B9AC32EB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955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65E0-EC20-4873-BC95-43D8EAA90EB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B9B6-14DB-48E5-AF1F-3B9AC32EB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56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65E0-EC20-4873-BC95-43D8EAA90EB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B9B6-14DB-48E5-AF1F-3B9AC32EB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608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65E0-EC20-4873-BC95-43D8EAA90EB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B9B6-14DB-48E5-AF1F-3B9AC32EB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313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65E0-EC20-4873-BC95-43D8EAA90EB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B9B6-14DB-48E5-AF1F-3B9AC32EB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88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65E0-EC20-4873-BC95-43D8EAA90EB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B9B6-14DB-48E5-AF1F-3B9AC32EB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7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65E0-EC20-4873-BC95-43D8EAA90EB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B9B6-14DB-48E5-AF1F-3B9AC32EB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820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65E0-EC20-4873-BC95-43D8EAA90EB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4B9B6-14DB-48E5-AF1F-3B9AC32EB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0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8BC65E0-EC20-4873-BC95-43D8EAA90EB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2C4B9B6-14DB-48E5-AF1F-3B9AC32EB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8547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Vicomtech/dataset-machine-tool-wear" TargetMode="External"/><Relationship Id="rId3" Type="http://schemas.openxmlformats.org/officeDocument/2006/relationships/image" Target="../media/image2.jpeg"/><Relationship Id="rId7" Type="http://schemas.openxmlformats.org/officeDocument/2006/relationships/hyperlink" Target="https://www.kaggle.com/datasets/ziya07/multi-sensor-cnc-tool-wear-dataset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publication/352801523_Tool_Wear_Prediction_in_Computer_Numerical_Control_Milling_Operations_via_Machine_Learning" TargetMode="External"/><Relationship Id="rId5" Type="http://schemas.openxmlformats.org/officeDocument/2006/relationships/hyperlink" Target="https://www.researchgate.net/publication/361431450_Thermal_error_analysis_and_modeling_for_high-speed_motorized_spindles_based_on_LSTM-CNN" TargetMode="External"/><Relationship Id="rId4" Type="http://schemas.openxmlformats.org/officeDocument/2006/relationships/hyperlink" Target="https://pmc.ncbi.nlm.nih.gov/articles/PMC10181692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BCA2EB72-13DC-4DC6-B461-3B036C55B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oundRect">
            <a:avLst>
              <a:gd name="adj" fmla="val 2627"/>
            </a:avLst>
          </a:prstGeom>
          <a:solidFill>
            <a:schemeClr val="bg2">
              <a:lumMod val="75000"/>
            </a:schemeClr>
          </a:solidFill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innerShdw blurRad="63500" dist="508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7E83F-7030-07DF-91B2-D6333C336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1413" y="965199"/>
            <a:ext cx="6075552" cy="4918075"/>
          </a:xfrm>
        </p:spPr>
        <p:txBody>
          <a:bodyPr anchor="ctr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5400">
                <a:latin typeface="Times New Roman" panose="02020603050405020304" pitchFamily="18" charset="0"/>
                <a:cs typeface="Times New Roman" panose="02020603050405020304" pitchFamily="18" charset="0"/>
              </a:rPr>
              <a:t>Predicția principalelor defecte ale unor masini cu comanda numerica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DFCF68-C612-CA5A-1DAB-3F8771572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1121" y="965199"/>
            <a:ext cx="2950765" cy="4918075"/>
          </a:xfrm>
        </p:spPr>
        <p:txBody>
          <a:bodyPr anchor="ctr">
            <a:normAutofit/>
          </a:bodyPr>
          <a:lstStyle/>
          <a:p>
            <a:pPr algn="just"/>
            <a:r>
              <a:rPr lang="ro" sz="16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cs typeface="Times New Roman"/>
              </a:rPr>
              <a:t>Student</a:t>
            </a:r>
            <a:r>
              <a:rPr lang="en-US" sz="16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cs typeface="Times New Roman"/>
              </a:rPr>
              <a:t>:</a:t>
            </a:r>
            <a:r>
              <a:rPr lang="en-US" sz="16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ro" sz="16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cs typeface="Times New Roman"/>
              </a:rPr>
              <a:t>Ioniță Alexandru Bogdan</a:t>
            </a:r>
            <a:endParaRPr lang="en-US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/>
              <a:cs typeface="Times New Roman"/>
            </a:endParaRPr>
          </a:p>
          <a:p>
            <a:pPr algn="just"/>
            <a:r>
              <a:rPr lang="ro" sz="16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cs typeface="Times New Roman"/>
              </a:rPr>
              <a:t>Anul III, Semestrul 1</a:t>
            </a:r>
            <a:endParaRPr lang="en-US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/>
              <a:cs typeface="Times New Roman"/>
            </a:endParaRPr>
          </a:p>
          <a:p>
            <a:pPr algn="just"/>
            <a:r>
              <a:rPr lang="ro" sz="1600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cs typeface="Times New Roman"/>
              </a:rPr>
              <a:t>Grupa:</a:t>
            </a:r>
            <a:r>
              <a:rPr lang="ro" sz="16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Times New Roman"/>
                <a:cs typeface="Times New Roman"/>
              </a:rPr>
              <a:t> 631AB</a:t>
            </a:r>
            <a:endParaRPr lang="en-US" sz="16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/>
              <a:cs typeface="Times New Roman"/>
            </a:endParaRPr>
          </a:p>
          <a:p>
            <a:pPr algn="l"/>
            <a:endParaRPr lang="en-US" sz="2800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75BF3-096E-451E-A222-96A7F0946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8699" y="2011680"/>
            <a:ext cx="0" cy="28346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965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766F4-8816-4926-780D-694748749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179" y="714375"/>
            <a:ext cx="3332955" cy="5076826"/>
          </a:xfrm>
        </p:spPr>
        <p:txBody>
          <a:bodyPr anchor="ctr">
            <a:normAutofit/>
          </a:bodyPr>
          <a:lstStyle/>
          <a:p>
            <a:r>
              <a:rPr lang="en-US" sz="3700">
                <a:latin typeface="Times New Roman" panose="02020603050405020304" pitchFamily="18" charset="0"/>
                <a:cs typeface="Times New Roman" panose="02020603050405020304" pitchFamily="18" charset="0"/>
              </a:rPr>
              <a:t>1. Descriere Nevoie: Predicția Defectelor CNC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5136A9-49F9-4DA0-A741-F065B0FA0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3356" y="0"/>
            <a:ext cx="7558643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12F6C7-0423-4B6F-AECE-710C84891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446539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7208205-03EE-4EC8-9C34-59270C188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2336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D4F37F63-3006-3ADD-6C4E-4ECB97FD6C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3046" y="714375"/>
            <a:ext cx="6253751" cy="50768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Ideea </a:t>
            </a:r>
            <a:r>
              <a:rPr lang="en-US" b="1" dirty="0" err="1">
                <a:solidFill>
                  <a:schemeClr val="tx1"/>
                </a:solidFill>
                <a:latin typeface="Times New Roman"/>
                <a:cs typeface="Times New Roman"/>
              </a:rPr>
              <a:t>Generală</a:t>
            </a: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 a </a:t>
            </a:r>
            <a:r>
              <a:rPr lang="en-US" b="1" dirty="0" err="1">
                <a:solidFill>
                  <a:schemeClr val="tx1"/>
                </a:solidFill>
                <a:latin typeface="Times New Roman"/>
                <a:cs typeface="Times New Roman"/>
              </a:rPr>
              <a:t>Proiectului</a:t>
            </a: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 (SIA cu RN)</a:t>
            </a:r>
            <a:endParaRPr lang="en-US" b="1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Scop: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Dezvoltarea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unui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/>
                <a:cs typeface="Times New Roman"/>
              </a:rPr>
              <a:t>Sistem</a:t>
            </a: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 cu </a:t>
            </a:r>
            <a:r>
              <a:rPr lang="en-US" b="1" dirty="0" err="1">
                <a:solidFill>
                  <a:schemeClr val="tx1"/>
                </a:solidFill>
                <a:latin typeface="Times New Roman"/>
                <a:cs typeface="Times New Roman"/>
              </a:rPr>
              <a:t>Inteligență</a:t>
            </a: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/>
                <a:cs typeface="Times New Roman"/>
              </a:rPr>
              <a:t>Artificială</a:t>
            </a: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 (SIA)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bazat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pe </a:t>
            </a:r>
            <a:r>
              <a:rPr lang="en-US" b="1" dirty="0" err="1">
                <a:solidFill>
                  <a:schemeClr val="tx1"/>
                </a:solidFill>
                <a:latin typeface="Times New Roman"/>
                <a:cs typeface="Times New Roman"/>
              </a:rPr>
              <a:t>Rețele</a:t>
            </a: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/>
                <a:cs typeface="Times New Roman"/>
              </a:rPr>
              <a:t>Neuronale</a:t>
            </a: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 (RN)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  <a:endParaRPr lang="en-US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latin typeface="Times New Roman"/>
                <a:cs typeface="Times New Roman"/>
              </a:rPr>
              <a:t>Funcție</a:t>
            </a: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: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Prezicerea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din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timp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a </a:t>
            </a:r>
            <a:r>
              <a:rPr lang="en-US" b="1" dirty="0" err="1">
                <a:solidFill>
                  <a:schemeClr val="tx1"/>
                </a:solidFill>
                <a:latin typeface="Times New Roman"/>
                <a:cs typeface="Times New Roman"/>
              </a:rPr>
              <a:t>principalelor</a:t>
            </a: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/>
                <a:cs typeface="Times New Roman"/>
              </a:rPr>
              <a:t>defecte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ale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mașinilor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CNC</a:t>
            </a:r>
            <a:endParaRPr lang="en-US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(ex.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defectarea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axului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uzura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sculelor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probleme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precizie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pe axe).</a:t>
            </a:r>
            <a:endParaRPr lang="en-US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latin typeface="Times New Roman"/>
                <a:cs typeface="Times New Roman"/>
              </a:rPr>
              <a:t>Mecanism</a:t>
            </a: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 RN: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RN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învață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tiparele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funcționare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și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anomaliile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din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datele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operare</a:t>
            </a:r>
            <a:endParaRPr lang="en-US" dirty="0" err="1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(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vibrații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curent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cuplu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etc.).</a:t>
            </a:r>
            <a:endParaRPr lang="en-US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tx1"/>
                </a:solidFill>
                <a:latin typeface="Times New Roman"/>
                <a:cs typeface="Times New Roman"/>
              </a:rPr>
              <a:t>Obiectiv</a:t>
            </a: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: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Asigurarea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/>
                <a:cs typeface="Times New Roman"/>
              </a:rPr>
              <a:t>disponibilității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și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/>
                <a:cs typeface="Times New Roman"/>
              </a:rPr>
              <a:t>preciziei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cs typeface="Times New Roman"/>
              </a:rPr>
              <a:t>mașinilor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  <a:endParaRPr lang="en-US" dirty="0">
              <a:solidFill>
                <a:schemeClr val="tx1"/>
              </a:soli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3698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BD3ED2-B0E6-45A2-ABD5-ECF31BC37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D2D1E8-4ABF-4B6B-B39D-40B080B61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160" y="0"/>
            <a:ext cx="9369421" cy="6857999"/>
          </a:xfrm>
          <a:prstGeom prst="rect">
            <a:avLst/>
          </a:prstGeom>
          <a:gradFill flip="none" rotWithShape="1">
            <a:gsLst>
              <a:gs pos="10000">
                <a:schemeClr val="bg2">
                  <a:lumMod val="60000"/>
                  <a:lumOff val="40000"/>
                  <a:alpha val="40000"/>
                </a:schemeClr>
              </a:gs>
              <a:gs pos="70000">
                <a:schemeClr val="bg2">
                  <a:alpha val="0"/>
                </a:schemeClr>
              </a:gs>
              <a:gs pos="0">
                <a:schemeClr val="bg2">
                  <a:lumMod val="40000"/>
                  <a:lumOff val="6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C7AB4B5-66A5-48D1-BD88-C60A16ED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88489" cy="6858002"/>
          </a:xfrm>
          <a:custGeom>
            <a:avLst/>
            <a:gdLst>
              <a:gd name="connsiteX0" fmla="*/ 0 w 6088489"/>
              <a:gd name="connsiteY0" fmla="*/ 0 h 6858002"/>
              <a:gd name="connsiteX1" fmla="*/ 3563332 w 6088489"/>
              <a:gd name="connsiteY1" fmla="*/ 0 h 6858002"/>
              <a:gd name="connsiteX2" fmla="*/ 3563332 w 6088489"/>
              <a:gd name="connsiteY2" fmla="*/ 3 h 6858002"/>
              <a:gd name="connsiteX3" fmla="*/ 5842099 w 6088489"/>
              <a:gd name="connsiteY3" fmla="*/ 3 h 6858002"/>
              <a:gd name="connsiteX4" fmla="*/ 5842099 w 6088489"/>
              <a:gd name="connsiteY4" fmla="*/ 4 h 6858002"/>
              <a:gd name="connsiteX5" fmla="*/ 5835346 w 6088489"/>
              <a:gd name="connsiteY5" fmla="*/ 4 h 6858002"/>
              <a:gd name="connsiteX6" fmla="*/ 5841229 w 6088489"/>
              <a:gd name="connsiteY6" fmla="*/ 40466 h 6858002"/>
              <a:gd name="connsiteX7" fmla="*/ 5858543 w 6088489"/>
              <a:gd name="connsiteY7" fmla="*/ 159110 h 6858002"/>
              <a:gd name="connsiteX8" fmla="*/ 5870645 w 6088489"/>
              <a:gd name="connsiteY8" fmla="*/ 245521 h 6858002"/>
              <a:gd name="connsiteX9" fmla="*/ 5883420 w 6088489"/>
              <a:gd name="connsiteY9" fmla="*/ 348391 h 6858002"/>
              <a:gd name="connsiteX10" fmla="*/ 5898716 w 6088489"/>
              <a:gd name="connsiteY10" fmla="*/ 470463 h 6858002"/>
              <a:gd name="connsiteX11" fmla="*/ 5914853 w 6088489"/>
              <a:gd name="connsiteY11" fmla="*/ 605566 h 6858002"/>
              <a:gd name="connsiteX12" fmla="*/ 5931830 w 6088489"/>
              <a:gd name="connsiteY12" fmla="*/ 757813 h 6858002"/>
              <a:gd name="connsiteX13" fmla="*/ 5949815 w 6088489"/>
              <a:gd name="connsiteY13" fmla="*/ 923777 h 6858002"/>
              <a:gd name="connsiteX14" fmla="*/ 5967801 w 6088489"/>
              <a:gd name="connsiteY14" fmla="*/ 1104142 h 6858002"/>
              <a:gd name="connsiteX15" fmla="*/ 5986122 w 6088489"/>
              <a:gd name="connsiteY15" fmla="*/ 1296166 h 6858002"/>
              <a:gd name="connsiteX16" fmla="*/ 6003099 w 6088489"/>
              <a:gd name="connsiteY16" fmla="*/ 1503278 h 6858002"/>
              <a:gd name="connsiteX17" fmla="*/ 6019404 w 6088489"/>
              <a:gd name="connsiteY17" fmla="*/ 1719991 h 6858002"/>
              <a:gd name="connsiteX18" fmla="*/ 6034196 w 6088489"/>
              <a:gd name="connsiteY18" fmla="*/ 1949048 h 6858002"/>
              <a:gd name="connsiteX19" fmla="*/ 6048315 w 6088489"/>
              <a:gd name="connsiteY19" fmla="*/ 2187706 h 6858002"/>
              <a:gd name="connsiteX20" fmla="*/ 6061595 w 6088489"/>
              <a:gd name="connsiteY20" fmla="*/ 2436652 h 6858002"/>
              <a:gd name="connsiteX21" fmla="*/ 6066301 w 6088489"/>
              <a:gd name="connsiteY21" fmla="*/ 2564211 h 6858002"/>
              <a:gd name="connsiteX22" fmla="*/ 6071512 w 6088489"/>
              <a:gd name="connsiteY22" fmla="*/ 2694512 h 6858002"/>
              <a:gd name="connsiteX23" fmla="*/ 6076386 w 6088489"/>
              <a:gd name="connsiteY23" fmla="*/ 2826871 h 6858002"/>
              <a:gd name="connsiteX24" fmla="*/ 6079580 w 6088489"/>
              <a:gd name="connsiteY24" fmla="*/ 2959917 h 6858002"/>
              <a:gd name="connsiteX25" fmla="*/ 6082438 w 6088489"/>
              <a:gd name="connsiteY25" fmla="*/ 3095705 h 6858002"/>
              <a:gd name="connsiteX26" fmla="*/ 6085463 w 6088489"/>
              <a:gd name="connsiteY26" fmla="*/ 3232865 h 6858002"/>
              <a:gd name="connsiteX27" fmla="*/ 6087480 w 6088489"/>
              <a:gd name="connsiteY27" fmla="*/ 3372768 h 6858002"/>
              <a:gd name="connsiteX28" fmla="*/ 6087480 w 6088489"/>
              <a:gd name="connsiteY28" fmla="*/ 3514043 h 6858002"/>
              <a:gd name="connsiteX29" fmla="*/ 6088489 w 6088489"/>
              <a:gd name="connsiteY29" fmla="*/ 3656689 h 6858002"/>
              <a:gd name="connsiteX30" fmla="*/ 6087480 w 6088489"/>
              <a:gd name="connsiteY30" fmla="*/ 3800707 h 6858002"/>
              <a:gd name="connsiteX31" fmla="*/ 6085463 w 6088489"/>
              <a:gd name="connsiteY31" fmla="*/ 3946783 h 6858002"/>
              <a:gd name="connsiteX32" fmla="*/ 6083614 w 6088489"/>
              <a:gd name="connsiteY32" fmla="*/ 4092858 h 6858002"/>
              <a:gd name="connsiteX33" fmla="*/ 6079580 w 6088489"/>
              <a:gd name="connsiteY33" fmla="*/ 4240991 h 6858002"/>
              <a:gd name="connsiteX34" fmla="*/ 6075378 w 6088489"/>
              <a:gd name="connsiteY34" fmla="*/ 4390495 h 6858002"/>
              <a:gd name="connsiteX35" fmla="*/ 6070503 w 6088489"/>
              <a:gd name="connsiteY35" fmla="*/ 4540000 h 6858002"/>
              <a:gd name="connsiteX36" fmla="*/ 6063612 w 6088489"/>
              <a:gd name="connsiteY36" fmla="*/ 4690876 h 6858002"/>
              <a:gd name="connsiteX37" fmla="*/ 6055375 w 6088489"/>
              <a:gd name="connsiteY37" fmla="*/ 4843123 h 6858002"/>
              <a:gd name="connsiteX38" fmla="*/ 6047475 w 6088489"/>
              <a:gd name="connsiteY38" fmla="*/ 4996057 h 6858002"/>
              <a:gd name="connsiteX39" fmla="*/ 6037390 w 6088489"/>
              <a:gd name="connsiteY39" fmla="*/ 5148990 h 6858002"/>
              <a:gd name="connsiteX40" fmla="*/ 6025287 w 6088489"/>
              <a:gd name="connsiteY40" fmla="*/ 5303981 h 6858002"/>
              <a:gd name="connsiteX41" fmla="*/ 6013185 w 6088489"/>
              <a:gd name="connsiteY41" fmla="*/ 5456914 h 6858002"/>
              <a:gd name="connsiteX42" fmla="*/ 5999233 w 6088489"/>
              <a:gd name="connsiteY42" fmla="*/ 5612591 h 6858002"/>
              <a:gd name="connsiteX43" fmla="*/ 5983937 w 6088489"/>
              <a:gd name="connsiteY43" fmla="*/ 5768953 h 6858002"/>
              <a:gd name="connsiteX44" fmla="*/ 5967801 w 6088489"/>
              <a:gd name="connsiteY44" fmla="*/ 5923258 h 6858002"/>
              <a:gd name="connsiteX45" fmla="*/ 5948975 w 6088489"/>
              <a:gd name="connsiteY45" fmla="*/ 6079621 h 6858002"/>
              <a:gd name="connsiteX46" fmla="*/ 5928804 w 6088489"/>
              <a:gd name="connsiteY46" fmla="*/ 6235297 h 6858002"/>
              <a:gd name="connsiteX47" fmla="*/ 5908801 w 6088489"/>
              <a:gd name="connsiteY47" fmla="*/ 6391660 h 6858002"/>
              <a:gd name="connsiteX48" fmla="*/ 5885437 w 6088489"/>
              <a:gd name="connsiteY48" fmla="*/ 6547336 h 6858002"/>
              <a:gd name="connsiteX49" fmla="*/ 5861568 w 6088489"/>
              <a:gd name="connsiteY49" fmla="*/ 6702327 h 6858002"/>
              <a:gd name="connsiteX50" fmla="*/ 5836524 w 6088489"/>
              <a:gd name="connsiteY50" fmla="*/ 6858002 h 6858002"/>
              <a:gd name="connsiteX51" fmla="*/ 3563332 w 6088489"/>
              <a:gd name="connsiteY51" fmla="*/ 6858002 h 6858002"/>
              <a:gd name="connsiteX52" fmla="*/ 1223490 w 6088489"/>
              <a:gd name="connsiteY52" fmla="*/ 6858002 h 6858002"/>
              <a:gd name="connsiteX53" fmla="*/ 0 w 6088489"/>
              <a:gd name="connsiteY5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88489" h="6858002">
                <a:moveTo>
                  <a:pt x="0" y="0"/>
                </a:moveTo>
                <a:lnTo>
                  <a:pt x="3563332" y="0"/>
                </a:lnTo>
                <a:lnTo>
                  <a:pt x="3563332" y="3"/>
                </a:lnTo>
                <a:lnTo>
                  <a:pt x="5842099" y="3"/>
                </a:lnTo>
                <a:lnTo>
                  <a:pt x="5842099" y="4"/>
                </a:lnTo>
                <a:lnTo>
                  <a:pt x="5835346" y="4"/>
                </a:lnTo>
                <a:lnTo>
                  <a:pt x="5841229" y="40466"/>
                </a:lnTo>
                <a:lnTo>
                  <a:pt x="5858543" y="159110"/>
                </a:lnTo>
                <a:lnTo>
                  <a:pt x="5870645" y="245521"/>
                </a:lnTo>
                <a:lnTo>
                  <a:pt x="5883420" y="348391"/>
                </a:lnTo>
                <a:lnTo>
                  <a:pt x="5898716" y="470463"/>
                </a:lnTo>
                <a:lnTo>
                  <a:pt x="5914853" y="605566"/>
                </a:lnTo>
                <a:lnTo>
                  <a:pt x="5931830" y="757813"/>
                </a:lnTo>
                <a:lnTo>
                  <a:pt x="5949815" y="923777"/>
                </a:lnTo>
                <a:lnTo>
                  <a:pt x="5967801" y="1104142"/>
                </a:lnTo>
                <a:lnTo>
                  <a:pt x="5986122" y="1296166"/>
                </a:lnTo>
                <a:lnTo>
                  <a:pt x="6003099" y="1503278"/>
                </a:lnTo>
                <a:lnTo>
                  <a:pt x="6019404" y="1719991"/>
                </a:lnTo>
                <a:lnTo>
                  <a:pt x="6034196" y="1949048"/>
                </a:lnTo>
                <a:lnTo>
                  <a:pt x="6048315" y="2187706"/>
                </a:lnTo>
                <a:lnTo>
                  <a:pt x="6061595" y="2436652"/>
                </a:lnTo>
                <a:lnTo>
                  <a:pt x="6066301" y="2564211"/>
                </a:lnTo>
                <a:lnTo>
                  <a:pt x="6071512" y="2694512"/>
                </a:lnTo>
                <a:lnTo>
                  <a:pt x="6076386" y="2826871"/>
                </a:lnTo>
                <a:lnTo>
                  <a:pt x="6079580" y="2959917"/>
                </a:lnTo>
                <a:lnTo>
                  <a:pt x="6082438" y="3095705"/>
                </a:lnTo>
                <a:lnTo>
                  <a:pt x="6085463" y="3232865"/>
                </a:lnTo>
                <a:lnTo>
                  <a:pt x="6087480" y="3372768"/>
                </a:lnTo>
                <a:lnTo>
                  <a:pt x="6087480" y="3514043"/>
                </a:lnTo>
                <a:lnTo>
                  <a:pt x="6088489" y="3656689"/>
                </a:lnTo>
                <a:lnTo>
                  <a:pt x="6087480" y="3800707"/>
                </a:lnTo>
                <a:lnTo>
                  <a:pt x="6085463" y="3946783"/>
                </a:lnTo>
                <a:lnTo>
                  <a:pt x="6083614" y="4092858"/>
                </a:lnTo>
                <a:lnTo>
                  <a:pt x="6079580" y="4240991"/>
                </a:lnTo>
                <a:lnTo>
                  <a:pt x="6075378" y="4390495"/>
                </a:lnTo>
                <a:lnTo>
                  <a:pt x="6070503" y="4540000"/>
                </a:lnTo>
                <a:lnTo>
                  <a:pt x="6063612" y="4690876"/>
                </a:lnTo>
                <a:lnTo>
                  <a:pt x="6055375" y="4843123"/>
                </a:lnTo>
                <a:lnTo>
                  <a:pt x="6047475" y="4996057"/>
                </a:lnTo>
                <a:lnTo>
                  <a:pt x="6037390" y="5148990"/>
                </a:lnTo>
                <a:lnTo>
                  <a:pt x="6025287" y="5303981"/>
                </a:lnTo>
                <a:lnTo>
                  <a:pt x="6013185" y="5456914"/>
                </a:lnTo>
                <a:lnTo>
                  <a:pt x="5999233" y="5612591"/>
                </a:lnTo>
                <a:lnTo>
                  <a:pt x="5983937" y="5768953"/>
                </a:lnTo>
                <a:lnTo>
                  <a:pt x="5967801" y="5923258"/>
                </a:lnTo>
                <a:lnTo>
                  <a:pt x="5948975" y="6079621"/>
                </a:lnTo>
                <a:lnTo>
                  <a:pt x="5928804" y="6235297"/>
                </a:lnTo>
                <a:lnTo>
                  <a:pt x="5908801" y="6391660"/>
                </a:lnTo>
                <a:lnTo>
                  <a:pt x="5885437" y="6547336"/>
                </a:lnTo>
                <a:lnTo>
                  <a:pt x="5861568" y="6702327"/>
                </a:lnTo>
                <a:lnTo>
                  <a:pt x="5836524" y="6858002"/>
                </a:lnTo>
                <a:lnTo>
                  <a:pt x="3563332" y="6858002"/>
                </a:lnTo>
                <a:lnTo>
                  <a:pt x="1223490" y="6858002"/>
                </a:lnTo>
                <a:lnTo>
                  <a:pt x="0" y="6858002"/>
                </a:lnTo>
                <a:close/>
              </a:path>
            </a:pathLst>
          </a:custGeom>
          <a:ln w="44450">
            <a:gradFill>
              <a:gsLst>
                <a:gs pos="500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25400" algn="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7A5188-B277-E8D5-5BE4-37CA7EDDA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2" y="643467"/>
            <a:ext cx="4340023" cy="5571064"/>
          </a:xfrm>
        </p:spPr>
        <p:txBody>
          <a:bodyPr anchor="ctr">
            <a:normAutofit/>
          </a:bodyPr>
          <a:lstStyle/>
          <a:p>
            <a:r>
              <a:rPr kumimoji="0" lang="en-US" altLang="en-US" sz="44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Domeniul Industrial de Interes (DII)</a:t>
            </a:r>
            <a:endParaRPr lang="en-US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3BE6AA9-D225-3608-BDC2-8FED5B770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8499" y="643467"/>
            <a:ext cx="4521480" cy="5571064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DII: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Producția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Industrială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Prelucrările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Mecanice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(Manufacturing).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Aplicație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Mentenanța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Predictivă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(Predictive Maintenance) pe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Mașini-Unelte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CNC.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801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E167B-A2BC-2006-38D2-D922AE77A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en-US" sz="4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Stadiul</a:t>
            </a:r>
            <a:r>
              <a:rPr kumimoji="0" lang="en-US" altLang="en-US" sz="4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Actual </a:t>
            </a:r>
            <a:r>
              <a:rPr kumimoji="0" lang="en-US" altLang="en-US" sz="4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kumimoji="0" lang="en-US" altLang="en-US" sz="4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4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Îmbunătățiri</a:t>
            </a:r>
            <a:br>
              <a:rPr kumimoji="0" lang="en-US" altLang="en-US" sz="4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AB733-CBD6-D4E7-4D61-06D46EA7C9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Monitorizare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auditivă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Intervenții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Reactive.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Date rare,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imposibil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estimat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viață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(RUL) precis.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Opriri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neplanificate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frecvente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1BBE0-9178-2389-E4EC-3BB961EA33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Detecția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Timpurie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uzurii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critice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(ax,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rulmenți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șuruburi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 bile).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Planificarea Mentenanței Programate (oprire optimizată).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Reducerea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Timpului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Întrerupere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(Down-Time).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6808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91AF5-BDC6-3005-DCBE-97455792C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869" y="643466"/>
            <a:ext cx="3143875" cy="5571065"/>
          </a:xfrm>
        </p:spPr>
        <p:txBody>
          <a:bodyPr anchor="ctr">
            <a:normAutofit/>
          </a:bodyPr>
          <a:lstStyle/>
          <a:p>
            <a:r>
              <a:rPr kumimoji="0" lang="en-US" altLang="en-US" sz="36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Beneficii Măsurabile</a:t>
            </a:r>
            <a:br>
              <a:rPr kumimoji="0" lang="en-US" altLang="en-US" sz="360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672142-94D6-400E-B188-309B101D8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2169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27259A-B804-4AD2-9BC6-66F7BB21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908066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B4E8A7-8505-4752-9B81-C739116C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150420" y="3429000"/>
            <a:ext cx="6858000" cy="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04A741-BC12-3FA5-6680-71633C438F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9646310"/>
              </p:ext>
            </p:extLst>
          </p:nvPr>
        </p:nvGraphicFramePr>
        <p:xfrm>
          <a:off x="643467" y="643467"/>
          <a:ext cx="6243992" cy="5571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08785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ns in a map">
            <a:extLst>
              <a:ext uri="{FF2B5EF4-FFF2-40B4-BE49-F238E27FC236}">
                <a16:creationId xmlns:a16="http://schemas.microsoft.com/office/drawing/2014/main" id="{73FA9AE7-7D89-FA3B-E9ED-74C8E0069F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t="9327" r="-2" b="627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6BD6E2-5960-38B8-2E17-EBB17395D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>
            <a:normAutofit/>
          </a:bodyPr>
          <a:lstStyle/>
          <a:p>
            <a:r>
              <a:rPr kumimoji="0" lang="en-US" altLang="en-US" i="0" u="none" strike="noStrike" cap="none" normalizeH="0" baseline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Surse</a:t>
            </a:r>
            <a:r>
              <a:rPr kumimoji="0" lang="en-US" altLang="en-US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CE19E-B54E-7773-69FB-9202352B7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124201"/>
          </a:xfr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buClr>
                <a:srgbClr val="FFFFFF"/>
              </a:buClr>
            </a:pPr>
            <a:r>
              <a:rPr lang="en-US" sz="1800" b="1" cap="non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</a:rPr>
              <a:t>Gao, Y., et al., 2023.</a:t>
            </a:r>
            <a:r>
              <a:rPr lang="en-US" sz="1800" cap="non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</a:rPr>
              <a:t> Machine Fault Detection Using a Hybrid CNN-LSTM Attention-Based Model. Sensors (Basel). </a:t>
            </a:r>
            <a:r>
              <a:rPr lang="en-US" sz="1800" cap="none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https://pmc.ncbi.nlm.nih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US" sz="1800" cap="none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gov/articles/PMC10181692/</a:t>
            </a:r>
            <a:endParaRPr lang="en-US" altLang="en-US" sz="1800" b="0" i="0" u="none" strike="noStrike" cap="none" normalizeH="0" baseline="0">
              <a:ln>
                <a:noFill/>
              </a:ln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/>
              <a:ea typeface="+mn-lt"/>
              <a:cs typeface="+mn-lt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defTabSz="914400">
              <a:buClr>
                <a:srgbClr val="FFFFFF"/>
              </a:buClr>
            </a:pPr>
            <a:r>
              <a:rPr lang="en-US" sz="1800" b="1" cap="non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</a:rPr>
              <a:t>Liu, H., et al., 2022.</a:t>
            </a:r>
            <a:r>
              <a:rPr lang="en-US" sz="1800" cap="non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</a:rPr>
              <a:t> Thermal error analysis and modeling for high-speed motorized spindles based on LSTM-CNN. Int J Adv </a:t>
            </a:r>
            <a:r>
              <a:rPr lang="en-US" sz="1800" cap="none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</a:rPr>
              <a:t>Manuf</a:t>
            </a:r>
            <a:r>
              <a:rPr lang="en-US" sz="1800" cap="non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</a:rPr>
              <a:t> Technol. </a:t>
            </a:r>
            <a:r>
              <a:rPr lang="en-US" sz="1800" cap="none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https://www.researchgate.net/publication/361431450_Thermal_error_analysis_and_modeling_for_high-speed_motorized_spindles_based_on_LSTM-CNN</a:t>
            </a:r>
            <a:endParaRPr lang="en-US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+mn-lt"/>
              <a:cs typeface="+mn-lt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defTabSz="914400">
              <a:buClr>
                <a:srgbClr val="FFFFFF"/>
              </a:buClr>
            </a:pPr>
            <a:r>
              <a:rPr lang="en-US" sz="1800" b="1" cap="none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</a:rPr>
              <a:t>Kuntoğlu</a:t>
            </a:r>
            <a:r>
              <a:rPr lang="en-US" sz="1800" b="1" cap="non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</a:rPr>
              <a:t>, M., et al., 2021.</a:t>
            </a:r>
            <a:r>
              <a:rPr lang="en-US" sz="1800" cap="non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</a:rPr>
              <a:t> Tool Wear Prediction in Computer Numerical Control (CNC) Milling Operations via Machine Learning. </a:t>
            </a:r>
            <a:r>
              <a:rPr lang="en-US" sz="1800" cap="none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https://www.researchgate.net/publication/352801523_Tool_Wear_Prediction_in_Computer_Numerical_Control_Milling_Operations_via_Machine_Learning</a:t>
            </a:r>
            <a:endParaRPr lang="en-US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+mn-lt"/>
              <a:cs typeface="+mn-lt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defTabSz="914400">
              <a:buClr>
                <a:srgbClr val="FFFFFF"/>
              </a:buClr>
            </a:pPr>
            <a:r>
              <a:rPr lang="en-US" sz="1800" b="1" cap="non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</a:rPr>
              <a:t>Ziya07, 2023.</a:t>
            </a:r>
            <a:r>
              <a:rPr lang="en-US" sz="1800" cap="none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</a:rPr>
              <a:t> Multi-Sensor CNC Tool Wear Dataset. Kaggle Data Repository. </a:t>
            </a:r>
            <a:r>
              <a:rPr lang="en-US" sz="1800" cap="none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https://www.kaggle.com/datasets/ziya07/multi-sensor-cnc-tool-wear-dataset</a:t>
            </a:r>
            <a:endParaRPr lang="en-US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+mn-lt"/>
              <a:cs typeface="+mn-lt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defTabSz="914400">
              <a:buClr>
                <a:srgbClr val="FFFFFF"/>
              </a:buClr>
            </a:pPr>
            <a:r>
              <a:rPr lang="en-US" sz="1800" b="1" cap="none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</a:rPr>
              <a:t>Vicomtech</a:t>
            </a:r>
            <a:r>
              <a:rPr lang="en-US" sz="1800" b="1" cap="none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</a:rPr>
              <a:t>, 2019.</a:t>
            </a:r>
            <a:r>
              <a:rPr lang="en-US" sz="1800" cap="none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</a:rPr>
              <a:t> dataset-machine-tool-wear. GitHub Repository. </a:t>
            </a:r>
            <a:r>
              <a:rPr lang="en-US" sz="1800" cap="none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/>
                <a:ea typeface="+mn-lt"/>
                <a:cs typeface="+mn-l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https://github.com/Vicomtech/dataset-machine-tool-wear</a:t>
            </a:r>
            <a:endParaRPr lang="en-US" sz="180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+mn-lt"/>
              <a:cs typeface="+mn-lt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 defTabSz="91440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endParaRPr lang="en-US" sz="1800" cap="none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/>
              <a:latin typeface="Times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755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8743-48BB-0BB8-C092-7F211960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Descrierea Sistemului cu Inteligență Artificială (SIA-CNC)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AE586-5309-2653-EAE2-A6B0FB7C3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Propus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Sistemul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Predicție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Defecte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CNC (SIA-CNC)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monitorizare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arhitectură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IA: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Neuronală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CNN-LSTM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ideală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temporale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597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6ABAF8-A5F0-4E99-AB6D-67BFBB982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A4DD9D-3250-83EE-8C7B-B05CD8E99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106" y="609600"/>
            <a:ext cx="3369133" cy="36428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1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Arhitectura și Componentele Principale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5F7833E7-6A14-4F78-A2DD-5640A4F6C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290" y="620720"/>
            <a:ext cx="6884079" cy="5597200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D934040-B65D-9C5E-465B-2F44585501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195600"/>
              </p:ext>
            </p:extLst>
          </p:nvPr>
        </p:nvGraphicFramePr>
        <p:xfrm>
          <a:off x="1142544" y="1947973"/>
          <a:ext cx="5915571" cy="294269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281161">
                  <a:extLst>
                    <a:ext uri="{9D8B030D-6E8A-4147-A177-3AD203B41FA5}">
                      <a16:colId xmlns:a16="http://schemas.microsoft.com/office/drawing/2014/main" val="2946034848"/>
                    </a:ext>
                  </a:extLst>
                </a:gridCol>
                <a:gridCol w="2361854">
                  <a:extLst>
                    <a:ext uri="{9D8B030D-6E8A-4147-A177-3AD203B41FA5}">
                      <a16:colId xmlns:a16="http://schemas.microsoft.com/office/drawing/2014/main" val="3371182030"/>
                    </a:ext>
                  </a:extLst>
                </a:gridCol>
                <a:gridCol w="2272556">
                  <a:extLst>
                    <a:ext uri="{9D8B030D-6E8A-4147-A177-3AD203B41FA5}">
                      <a16:colId xmlns:a16="http://schemas.microsoft.com/office/drawing/2014/main" val="3070718991"/>
                    </a:ext>
                  </a:extLst>
                </a:gridCol>
              </a:tblGrid>
              <a:tr h="636826">
                <a:tc>
                  <a:txBody>
                    <a:bodyPr/>
                    <a:lstStyle/>
                    <a:p>
                      <a:r>
                        <a:rPr lang="en-US" sz="1800" b="0" cap="all" spc="15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Nivel</a:t>
                      </a:r>
                    </a:p>
                  </a:txBody>
                  <a:tcPr marL="157457" marR="157457" marT="157457" marB="15745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all" spc="15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Componente</a:t>
                      </a:r>
                      <a:r>
                        <a:rPr lang="en-US" sz="1800" b="0" cap="all" spc="15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157457" marR="157457" marT="157457" marB="15745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all" spc="15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</a:t>
                      </a:r>
                    </a:p>
                  </a:txBody>
                  <a:tcPr marL="157457" marR="157457" marT="157457" marB="15745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28656"/>
                  </a:ext>
                </a:extLst>
              </a:tr>
              <a:tr h="1039216"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</a:p>
                  </a:txBody>
                  <a:tcPr marL="157457" marR="157457" marT="157457" marB="15745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Senzori</a:t>
                      </a: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500" cap="none" spc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Vibrații</a:t>
                      </a: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500" cap="none" spc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Cuplu</a:t>
                      </a: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Temp.), DAQ Industrial, Gateway Industrial</a:t>
                      </a:r>
                    </a:p>
                  </a:txBody>
                  <a:tcPr marL="157457" marR="157457" marT="157457" marB="15745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5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Achiziție, Pre-procesare și rularea modelului RN simplificat.</a:t>
                      </a:r>
                      <a:endParaRPr lang="en-US" sz="1500" cap="none" spc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7457" marR="157457" marT="157457" marB="15745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715875"/>
                  </a:ext>
                </a:extLst>
              </a:tr>
              <a:tr h="1266654"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</a:t>
                      </a:r>
                    </a:p>
                  </a:txBody>
                  <a:tcPr marL="157457" marR="157457" marT="157457" marB="15745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Bază</a:t>
                      </a: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Date, Modul de </a:t>
                      </a:r>
                      <a:r>
                        <a:rPr lang="en-US" sz="1500" cap="none" spc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Antrenare</a:t>
                      </a:r>
                      <a:r>
                        <a:rPr lang="en-US" sz="15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RN, Dashboard</a:t>
                      </a:r>
                    </a:p>
                  </a:txBody>
                  <a:tcPr marL="157457" marR="157457" marT="157457" marB="15745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5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Stocare istorică, Antrenarea modelului complex, Vizualizare și Alertare.</a:t>
                      </a:r>
                      <a:endParaRPr lang="en-US" sz="1500" cap="none" spc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7457" marR="157457" marT="157457" marB="15745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420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6363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EC293-2018-43CB-EF86-970AC400F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68582"/>
          </a:xfrm>
        </p:spPr>
        <p:txBody>
          <a:bodyPr>
            <a:normAutofit/>
          </a:bodyPr>
          <a:lstStyle/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Fluxurile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Date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Tehnologii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1263913-66AA-B4E4-180F-A2D1DA7D37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2134043"/>
              </p:ext>
            </p:extLst>
          </p:nvPr>
        </p:nvGraphicFramePr>
        <p:xfrm>
          <a:off x="1141413" y="2584293"/>
          <a:ext cx="9906002" cy="2790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9945">
                  <a:extLst>
                    <a:ext uri="{9D8B030D-6E8A-4147-A177-3AD203B41FA5}">
                      <a16:colId xmlns:a16="http://schemas.microsoft.com/office/drawing/2014/main" val="2517859713"/>
                    </a:ext>
                  </a:extLst>
                </a:gridCol>
                <a:gridCol w="3612272">
                  <a:extLst>
                    <a:ext uri="{9D8B030D-6E8A-4147-A177-3AD203B41FA5}">
                      <a16:colId xmlns:a16="http://schemas.microsoft.com/office/drawing/2014/main" val="1850798464"/>
                    </a:ext>
                  </a:extLst>
                </a:gridCol>
                <a:gridCol w="3573785">
                  <a:extLst>
                    <a:ext uri="{9D8B030D-6E8A-4147-A177-3AD203B41FA5}">
                      <a16:colId xmlns:a16="http://schemas.microsoft.com/office/drawing/2014/main" val="736725887"/>
                    </a:ext>
                  </a:extLst>
                </a:gridCol>
              </a:tblGrid>
              <a:tr h="435452">
                <a:tc>
                  <a:txBody>
                    <a:bodyPr/>
                    <a:lstStyle/>
                    <a:p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Flux de Date</a:t>
                      </a:r>
                    </a:p>
                  </a:txBody>
                  <a:tcPr marL="98966" marR="98966" marT="49483" marB="49483"/>
                </a:tc>
                <a:tc>
                  <a:txBody>
                    <a:bodyPr/>
                    <a:lstStyle/>
                    <a:p>
                      <a:r>
                        <a:rPr lang="en-US" sz="19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Descriere</a:t>
                      </a:r>
                      <a:endParaRPr lang="en-US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966" marR="98966" marT="49483" marB="49483"/>
                </a:tc>
                <a:tc>
                  <a:txBody>
                    <a:bodyPr/>
                    <a:lstStyle/>
                    <a:p>
                      <a:r>
                        <a:rPr lang="en-US" sz="19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Tehnologii</a:t>
                      </a:r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9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Utilizate</a:t>
                      </a:r>
                      <a:endParaRPr lang="en-US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966" marR="98966" marT="49483" marB="49483"/>
                </a:tc>
                <a:extLst>
                  <a:ext uri="{0D108BD9-81ED-4DB2-BD59-A6C34878D82A}">
                    <a16:rowId xmlns:a16="http://schemas.microsoft.com/office/drawing/2014/main" val="3481338930"/>
                  </a:ext>
                </a:extLst>
              </a:tr>
              <a:tr h="1326149">
                <a:tc>
                  <a:txBody>
                    <a:bodyPr/>
                    <a:lstStyle/>
                    <a:p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- SIA</a:t>
                      </a:r>
                    </a:p>
                  </a:txBody>
                  <a:tcPr marL="98966" marR="98966" marT="49483" marB="49483"/>
                </a:tc>
                <a:tc>
                  <a:txBody>
                    <a:bodyPr/>
                    <a:lstStyle/>
                    <a:p>
                      <a:r>
                        <a:rPr lang="en-US" sz="19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Datele</a:t>
                      </a:r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brute sunt </a:t>
                      </a:r>
                      <a:r>
                        <a:rPr lang="en-US" sz="19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eșantionate</a:t>
                      </a:r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pre-</a:t>
                      </a:r>
                      <a:r>
                        <a:rPr lang="en-US" sz="19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procesate</a:t>
                      </a:r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 Edge </a:t>
                      </a:r>
                      <a:r>
                        <a:rPr lang="en-US" sz="19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și</a:t>
                      </a:r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9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trimise</a:t>
                      </a:r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9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către</a:t>
                      </a:r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Cloud/Server (</a:t>
                      </a:r>
                      <a:r>
                        <a:rPr lang="en-US" sz="19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pentru</a:t>
                      </a:r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9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reantrenare</a:t>
                      </a:r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9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și</a:t>
                      </a:r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9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stocare</a:t>
                      </a:r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8966" marR="98966" marT="49483" marB="49483"/>
                </a:tc>
                <a:tc>
                  <a:txBody>
                    <a:bodyPr/>
                    <a:lstStyle/>
                    <a:p>
                      <a:r>
                        <a:rPr lang="en-US" sz="19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OPC UA / MQTT, Python, NI LabVIEW</a:t>
                      </a:r>
                    </a:p>
                  </a:txBody>
                  <a:tcPr marL="98966" marR="98966" marT="49483" marB="49483"/>
                </a:tc>
                <a:extLst>
                  <a:ext uri="{0D108BD9-81ED-4DB2-BD59-A6C34878D82A}">
                    <a16:rowId xmlns:a16="http://schemas.microsoft.com/office/drawing/2014/main" val="2413930955"/>
                  </a:ext>
                </a:extLst>
              </a:tr>
              <a:tr h="1029250">
                <a:tc>
                  <a:txBody>
                    <a:bodyPr/>
                    <a:lstStyle/>
                    <a:p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SIA – Real</a:t>
                      </a:r>
                    </a:p>
                  </a:txBody>
                  <a:tcPr marL="98966" marR="98966" marT="49483" marB="49483"/>
                </a:tc>
                <a:tc>
                  <a:txBody>
                    <a:bodyPr/>
                    <a:lstStyle/>
                    <a:p>
                      <a:r>
                        <a:rPr lang="en-US" sz="19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Modelul</a:t>
                      </a:r>
                      <a:r>
                        <a:rPr lang="en-US" sz="19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RN </a:t>
                      </a:r>
                      <a:r>
                        <a:rPr lang="en-US" sz="19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furnizează</a:t>
                      </a:r>
                      <a:r>
                        <a:rPr lang="en-US" sz="19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9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Predicția</a:t>
                      </a:r>
                      <a:r>
                        <a:rPr lang="en-US" sz="19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9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Defectului</a:t>
                      </a:r>
                      <a:r>
                        <a:rPr lang="en-US" sz="19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9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și</a:t>
                      </a:r>
                      <a:r>
                        <a:rPr lang="en-US" sz="19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RUL </a:t>
                      </a:r>
                      <a:r>
                        <a:rPr lang="en-US" sz="19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Estimat</a:t>
                      </a:r>
                      <a:r>
                        <a:rPr lang="en-US" sz="19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9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generând</a:t>
                      </a:r>
                      <a:r>
                        <a:rPr lang="en-US" sz="19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9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alerte</a:t>
                      </a:r>
                      <a:endParaRPr lang="en-US" sz="19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8966" marR="98966" marT="49483" marB="49483"/>
                </a:tc>
                <a:tc>
                  <a:txBody>
                    <a:bodyPr/>
                    <a:lstStyle/>
                    <a:p>
                      <a:r>
                        <a:rPr lang="en-US" sz="19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TensorFlow/</a:t>
                      </a:r>
                      <a:r>
                        <a:rPr lang="en-US" sz="19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Keras</a:t>
                      </a:r>
                      <a:r>
                        <a:rPr lang="en-US" sz="19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9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</a:t>
                      </a:r>
                      <a:r>
                        <a:rPr lang="en-US" sz="19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9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PyTorch</a:t>
                      </a:r>
                      <a:r>
                        <a:rPr lang="en-US" sz="19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9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Integrare</a:t>
                      </a:r>
                      <a:r>
                        <a:rPr lang="en-US" sz="19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CMMS/ERP</a:t>
                      </a:r>
                    </a:p>
                  </a:txBody>
                  <a:tcPr marL="98966" marR="98966" marT="49483" marB="49483"/>
                </a:tc>
                <a:extLst>
                  <a:ext uri="{0D108BD9-81ED-4DB2-BD59-A6C34878D82A}">
                    <a16:rowId xmlns:a16="http://schemas.microsoft.com/office/drawing/2014/main" val="25274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162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7F033-4B14-26C1-CEAB-4C700846F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472" y="2476500"/>
            <a:ext cx="3643674" cy="1905000"/>
          </a:xfrm>
        </p:spPr>
        <p:txBody>
          <a:bodyPr>
            <a:norm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Date de Intrare/Ieșire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F100F011-8C41-A94D-CF7C-4E44F7ABB2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7550888"/>
              </p:ext>
            </p:extLst>
          </p:nvPr>
        </p:nvGraphicFramePr>
        <p:xfrm>
          <a:off x="4630994" y="887973"/>
          <a:ext cx="6916635" cy="4762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517">
                  <a:extLst>
                    <a:ext uri="{9D8B030D-6E8A-4147-A177-3AD203B41FA5}">
                      <a16:colId xmlns:a16="http://schemas.microsoft.com/office/drawing/2014/main" val="1798720983"/>
                    </a:ext>
                  </a:extLst>
                </a:gridCol>
                <a:gridCol w="2760731">
                  <a:extLst>
                    <a:ext uri="{9D8B030D-6E8A-4147-A177-3AD203B41FA5}">
                      <a16:colId xmlns:a16="http://schemas.microsoft.com/office/drawing/2014/main" val="2049686884"/>
                    </a:ext>
                  </a:extLst>
                </a:gridCol>
                <a:gridCol w="2966387">
                  <a:extLst>
                    <a:ext uri="{9D8B030D-6E8A-4147-A177-3AD203B41FA5}">
                      <a16:colId xmlns:a16="http://schemas.microsoft.com/office/drawing/2014/main" val="2384742714"/>
                    </a:ext>
                  </a:extLst>
                </a:gridCol>
              </a:tblGrid>
              <a:tr h="876590">
                <a:tc>
                  <a:txBody>
                    <a:bodyPr/>
                    <a:lstStyle/>
                    <a:p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Tip</a:t>
                      </a:r>
                    </a:p>
                  </a:txBody>
                  <a:tcPr marL="118458" marR="118458" marT="59229" marB="59229" anchor="ctr"/>
                </a:tc>
                <a:tc>
                  <a:txBody>
                    <a:bodyPr/>
                    <a:lstStyle/>
                    <a:p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Colectate (Intrare)</a:t>
                      </a:r>
                    </a:p>
                  </a:txBody>
                  <a:tcPr marL="118458" marR="118458" marT="59229" marB="59229" anchor="ctr"/>
                </a:tc>
                <a:tc>
                  <a:txBody>
                    <a:bodyPr/>
                    <a:lstStyle/>
                    <a:p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Generate (Ieșire)</a:t>
                      </a:r>
                    </a:p>
                  </a:txBody>
                  <a:tcPr marL="118458" marR="118458" marT="59229" marB="59229" anchor="ctr"/>
                </a:tc>
                <a:extLst>
                  <a:ext uri="{0D108BD9-81ED-4DB2-BD59-A6C34878D82A}">
                    <a16:rowId xmlns:a16="http://schemas.microsoft.com/office/drawing/2014/main" val="3271540485"/>
                  </a:ext>
                </a:extLst>
              </a:tr>
              <a:tr h="2298086">
                <a:tc>
                  <a:txBody>
                    <a:bodyPr/>
                    <a:lstStyle/>
                    <a:p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Intrare</a:t>
                      </a:r>
                      <a:endParaRPr lang="en-US" sz="23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58" marR="118458" marT="59229" marB="59229" anchor="ctr"/>
                </a:tc>
                <a:tc>
                  <a:txBody>
                    <a:bodyPr/>
                    <a:lstStyle/>
                    <a:p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Serii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Temporale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Vibrație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Ax), </a:t>
                      </a:r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Valori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Cuplu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Curent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Ax, </a:t>
                      </a:r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Temperatură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Parametri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Controler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CNC (</a:t>
                      </a:r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Poziție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118458" marR="118458" marT="59229" marB="59229" anchor="ctr"/>
                </a:tc>
                <a:tc>
                  <a:txBody>
                    <a:bodyPr/>
                    <a:lstStyle/>
                    <a:p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Clasa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Defect </a:t>
                      </a:r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Prezisă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(Ex: </a:t>
                      </a:r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Uzură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Ax, </a:t>
                      </a:r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Uzură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Sculă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Normal)</a:t>
                      </a:r>
                    </a:p>
                  </a:txBody>
                  <a:tcPr marL="118458" marR="118458" marT="59229" marB="59229" anchor="ctr"/>
                </a:tc>
                <a:extLst>
                  <a:ext uri="{0D108BD9-81ED-4DB2-BD59-A6C34878D82A}">
                    <a16:rowId xmlns:a16="http://schemas.microsoft.com/office/drawing/2014/main" val="76585503"/>
                  </a:ext>
                </a:extLst>
              </a:tr>
              <a:tr h="1587338">
                <a:tc>
                  <a:txBody>
                    <a:bodyPr/>
                    <a:lstStyle/>
                    <a:p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Ieșire</a:t>
                      </a:r>
                      <a:endParaRPr lang="en-US" sz="23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58" marR="118458" marT="59229" marB="59229" anchor="ctr"/>
                </a:tc>
                <a:tc>
                  <a:txBody>
                    <a:bodyPr/>
                    <a:lstStyle/>
                    <a:p>
                      <a:r>
                        <a:rPr lang="it-IT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 Estimat (Ore/Piese Rămase)</a:t>
                      </a:r>
                    </a:p>
                  </a:txBody>
                  <a:tcPr marL="118458" marR="118458" marT="59229" marB="59229" anchor="ctr"/>
                </a:tc>
                <a:tc>
                  <a:txBody>
                    <a:bodyPr/>
                    <a:lstStyle/>
                    <a:p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Alertă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Mentenanță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Notificare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către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Utilizator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23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Sistem</a:t>
                      </a:r>
                      <a:r>
                        <a:rPr lang="en-US" sz="23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CMMS)</a:t>
                      </a:r>
                    </a:p>
                  </a:txBody>
                  <a:tcPr marL="118458" marR="118458" marT="59229" marB="59229" anchor="ctr"/>
                </a:tc>
                <a:extLst>
                  <a:ext uri="{0D108BD9-81ED-4DB2-BD59-A6C34878D82A}">
                    <a16:rowId xmlns:a16="http://schemas.microsoft.com/office/drawing/2014/main" val="2428236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8893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806C1-E5F0-AFD0-061C-6DA09E700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r>
              <a:rPr lang="en-US" sz="3100" b="1">
                <a:latin typeface="Times New Roman" panose="02020603050405020304" pitchFamily="18" charset="0"/>
                <a:cs typeface="Times New Roman" panose="02020603050405020304" pitchFamily="18" charset="0"/>
              </a:rPr>
              <a:t>Utilizatori Potențiali și Roluri</a:t>
            </a:r>
            <a:endParaRPr lang="en-US" sz="3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48E777-B882-1E15-ADA3-F41CE8E5CC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8133006"/>
              </p:ext>
            </p:extLst>
          </p:nvPr>
        </p:nvGraphicFramePr>
        <p:xfrm>
          <a:off x="5054375" y="1312054"/>
          <a:ext cx="6046135" cy="4186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597">
                  <a:extLst>
                    <a:ext uri="{9D8B030D-6E8A-4147-A177-3AD203B41FA5}">
                      <a16:colId xmlns:a16="http://schemas.microsoft.com/office/drawing/2014/main" val="1188407747"/>
                    </a:ext>
                  </a:extLst>
                </a:gridCol>
                <a:gridCol w="2204769">
                  <a:extLst>
                    <a:ext uri="{9D8B030D-6E8A-4147-A177-3AD203B41FA5}">
                      <a16:colId xmlns:a16="http://schemas.microsoft.com/office/drawing/2014/main" val="3698432775"/>
                    </a:ext>
                  </a:extLst>
                </a:gridCol>
                <a:gridCol w="2204769">
                  <a:extLst>
                    <a:ext uri="{9D8B030D-6E8A-4147-A177-3AD203B41FA5}">
                      <a16:colId xmlns:a16="http://schemas.microsoft.com/office/drawing/2014/main" val="3788319313"/>
                    </a:ext>
                  </a:extLst>
                </a:gridCol>
              </a:tblGrid>
              <a:tr h="413786">
                <a:tc>
                  <a:txBody>
                    <a:bodyPr/>
                    <a:lstStyle/>
                    <a:p>
                      <a:r>
                        <a:rPr lang="en-US" sz="19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Utilizator</a:t>
                      </a:r>
                      <a:endParaRPr lang="en-US" sz="19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042" marR="94042" marT="47021" marB="47021" anchor="ctr"/>
                </a:tc>
                <a:tc>
                  <a:txBody>
                    <a:bodyPr/>
                    <a:lstStyle/>
                    <a:p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Rol Principal</a:t>
                      </a:r>
                    </a:p>
                  </a:txBody>
                  <a:tcPr marL="94042" marR="94042" marT="47021" marB="47021" anchor="ctr"/>
                </a:tc>
                <a:tc>
                  <a:txBody>
                    <a:bodyPr/>
                    <a:lstStyle/>
                    <a:p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Permisiuni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de </a:t>
                      </a:r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Acces</a:t>
                      </a:r>
                    </a:p>
                  </a:txBody>
                  <a:tcPr marL="94042" marR="94042" marT="47021" marB="47021" anchor="ctr"/>
                </a:tc>
                <a:extLst>
                  <a:ext uri="{0D108BD9-81ED-4DB2-BD59-A6C34878D82A}">
                    <a16:rowId xmlns:a16="http://schemas.microsoft.com/office/drawing/2014/main" val="3161067460"/>
                  </a:ext>
                </a:extLst>
              </a:tr>
              <a:tr h="1260167">
                <a:tc>
                  <a:txBody>
                    <a:bodyPr/>
                    <a:lstStyle/>
                    <a:p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Administrator </a:t>
                      </a:r>
                    </a:p>
                  </a:txBody>
                  <a:tcPr marL="94042" marR="94042" marT="47021" marB="47021" anchor="ctr"/>
                </a:tc>
                <a:tc>
                  <a:txBody>
                    <a:bodyPr/>
                    <a:lstStyle/>
                    <a:p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Gestionează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modelul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IA </a:t>
                      </a:r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și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întreaga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arhitectură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a </a:t>
                      </a:r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sistemului</a:t>
                      </a:r>
                      <a:endParaRPr lang="en-US" sz="1900" b="0" dirty="0">
                        <a:latin typeface="Times New Roman"/>
                        <a:cs typeface="Times New Roman"/>
                      </a:endParaRPr>
                    </a:p>
                  </a:txBody>
                  <a:tcPr marL="94042" marR="94042" marT="47021" marB="47021" anchor="ctr"/>
                </a:tc>
                <a:tc>
                  <a:txBody>
                    <a:bodyPr/>
                    <a:lstStyle/>
                    <a:p>
                      <a:r>
                        <a:rPr lang="fr-FR" sz="1900" b="0" dirty="0" err="1">
                          <a:latin typeface="Times New Roman"/>
                          <a:cs typeface="Times New Roman"/>
                        </a:rPr>
                        <a:t>Acces</a:t>
                      </a:r>
                      <a:r>
                        <a:rPr lang="fr-FR" sz="1900" b="0" dirty="0">
                          <a:latin typeface="Times New Roman"/>
                          <a:cs typeface="Times New Roman"/>
                        </a:rPr>
                        <a:t> Complet (Model, </a:t>
                      </a:r>
                      <a:r>
                        <a:rPr lang="fr-FR" sz="1900" b="0" dirty="0" err="1">
                          <a:latin typeface="Times New Roman"/>
                          <a:cs typeface="Times New Roman"/>
                        </a:rPr>
                        <a:t>Setări</a:t>
                      </a:r>
                      <a:r>
                        <a:rPr lang="fr-FR" sz="1900" b="0" dirty="0">
                          <a:latin typeface="Times New Roman"/>
                          <a:cs typeface="Times New Roman"/>
                        </a:rPr>
                        <a:t>, Date brute)</a:t>
                      </a:r>
                    </a:p>
                  </a:txBody>
                  <a:tcPr marL="94042" marR="94042" marT="47021" marB="47021" anchor="ctr"/>
                </a:tc>
                <a:extLst>
                  <a:ext uri="{0D108BD9-81ED-4DB2-BD59-A6C34878D82A}">
                    <a16:rowId xmlns:a16="http://schemas.microsoft.com/office/drawing/2014/main" val="1832075261"/>
                  </a:ext>
                </a:extLst>
              </a:tr>
              <a:tr h="978040">
                <a:tc>
                  <a:txBody>
                    <a:bodyPr/>
                    <a:lstStyle/>
                    <a:p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Tehnician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Mentenanță</a:t>
                      </a:r>
                    </a:p>
                  </a:txBody>
                  <a:tcPr marL="94042" marR="94042" marT="47021" marB="47021" anchor="ctr"/>
                </a:tc>
                <a:tc>
                  <a:txBody>
                    <a:bodyPr/>
                    <a:lstStyle/>
                    <a:p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Monitorizează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RUL </a:t>
                      </a:r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și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acționează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pe </a:t>
                      </a:r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baza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alertelor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generate</a:t>
                      </a:r>
                    </a:p>
                  </a:txBody>
                  <a:tcPr marL="94042" marR="94042" marT="47021" marB="47021" anchor="ctr"/>
                </a:tc>
                <a:tc>
                  <a:txBody>
                    <a:bodyPr/>
                    <a:lstStyle/>
                    <a:p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Acces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Citire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(Dashboard, Alerte, RUL)</a:t>
                      </a:r>
                    </a:p>
                  </a:txBody>
                  <a:tcPr marL="94042" marR="94042" marT="47021" marB="47021" anchor="ctr"/>
                </a:tc>
                <a:extLst>
                  <a:ext uri="{0D108BD9-81ED-4DB2-BD59-A6C34878D82A}">
                    <a16:rowId xmlns:a16="http://schemas.microsoft.com/office/drawing/2014/main" val="567574449"/>
                  </a:ext>
                </a:extLst>
              </a:tr>
              <a:tr h="1260167">
                <a:tc>
                  <a:txBody>
                    <a:bodyPr/>
                    <a:lstStyle/>
                    <a:p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Sistem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CMMS/ERP</a:t>
                      </a:r>
                    </a:p>
                  </a:txBody>
                  <a:tcPr marL="94042" marR="94042" marT="47021" marB="47021" anchor="ctr"/>
                </a:tc>
                <a:tc>
                  <a:txBody>
                    <a:bodyPr/>
                    <a:lstStyle/>
                    <a:p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Primește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datele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RUL </a:t>
                      </a:r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pentru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a genera </a:t>
                      </a:r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Ordine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de </a:t>
                      </a:r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Lucru</a:t>
                      </a:r>
                      <a:r>
                        <a:rPr lang="en-US" sz="1900" b="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900" b="0" dirty="0" err="1">
                          <a:latin typeface="Times New Roman"/>
                          <a:cs typeface="Times New Roman"/>
                        </a:rPr>
                        <a:t>Programate</a:t>
                      </a:r>
                      <a:endParaRPr lang="en-US" sz="1900" b="0" dirty="0">
                        <a:latin typeface="Times New Roman"/>
                        <a:cs typeface="Times New Roman"/>
                      </a:endParaRPr>
                    </a:p>
                  </a:txBody>
                  <a:tcPr marL="94042" marR="94042" marT="47021" marB="47021" anchor="ctr"/>
                </a:tc>
                <a:tc>
                  <a:txBody>
                    <a:bodyPr/>
                    <a:lstStyle/>
                    <a:p>
                      <a:r>
                        <a:rPr lang="it-IT" sz="1900" b="0" dirty="0" err="1">
                          <a:latin typeface="Times New Roman"/>
                          <a:cs typeface="Times New Roman"/>
                        </a:rPr>
                        <a:t>Acces</a:t>
                      </a:r>
                      <a:r>
                        <a:rPr lang="it-IT" sz="1900" b="0" dirty="0">
                          <a:latin typeface="Times New Roman"/>
                          <a:cs typeface="Times New Roman"/>
                        </a:rPr>
                        <a:t> API/</a:t>
                      </a:r>
                      <a:r>
                        <a:rPr lang="it-IT" sz="1900" b="0" dirty="0" err="1">
                          <a:latin typeface="Times New Roman"/>
                          <a:cs typeface="Times New Roman"/>
                        </a:rPr>
                        <a:t>Scriere</a:t>
                      </a:r>
                      <a:r>
                        <a:rPr lang="it-IT" sz="1900" b="0" dirty="0">
                          <a:latin typeface="Times New Roman"/>
                          <a:cs typeface="Times New Roman"/>
                        </a:rPr>
                        <a:t> (</a:t>
                      </a:r>
                      <a:r>
                        <a:rPr lang="it-IT" sz="1900" b="0" dirty="0" err="1">
                          <a:latin typeface="Times New Roman"/>
                          <a:cs typeface="Times New Roman"/>
                        </a:rPr>
                        <a:t>doar</a:t>
                      </a:r>
                      <a:r>
                        <a:rPr lang="it-IT" sz="1900" b="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it-IT" sz="1900" b="0" dirty="0" err="1">
                          <a:latin typeface="Times New Roman"/>
                          <a:cs typeface="Times New Roman"/>
                        </a:rPr>
                        <a:t>pentru</a:t>
                      </a:r>
                      <a:r>
                        <a:rPr lang="it-IT" sz="1900" b="0" dirty="0">
                          <a:latin typeface="Times New Roman"/>
                          <a:cs typeface="Times New Roman"/>
                        </a:rPr>
                        <a:t> a primi </a:t>
                      </a:r>
                      <a:r>
                        <a:rPr lang="it-IT" sz="1900" b="0" dirty="0" err="1">
                          <a:latin typeface="Times New Roman"/>
                          <a:cs typeface="Times New Roman"/>
                        </a:rPr>
                        <a:t>predicțiile</a:t>
                      </a:r>
                      <a:r>
                        <a:rPr lang="it-IT" sz="1900" b="0" dirty="0">
                          <a:latin typeface="Times New Roman"/>
                          <a:cs typeface="Times New Roman"/>
                        </a:rPr>
                        <a:t> SIA)</a:t>
                      </a:r>
                    </a:p>
                  </a:txBody>
                  <a:tcPr marL="94042" marR="94042" marT="47021" marB="47021" anchor="ctr"/>
                </a:tc>
                <a:extLst>
                  <a:ext uri="{0D108BD9-81ED-4DB2-BD59-A6C34878D82A}">
                    <a16:rowId xmlns:a16="http://schemas.microsoft.com/office/drawing/2014/main" val="1811988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4035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156698-DED5-459A-B5C8-93ABF27717F4}">
  <we:reference id="wa104380518" version="3.7.0.0" store="en-US" storeType="OMEX"/>
  <we:alternateReferences>
    <we:reference id="WA104380518" version="3.7.0.0" store="WA104380518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67</TotalTime>
  <Words>573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Mesh</vt:lpstr>
      <vt:lpstr>Predicția principalelor defecte ale unor masini cu comanda numerica</vt:lpstr>
      <vt:lpstr>1. Descriere Nevoie: Predicția Defectelor CNC</vt:lpstr>
      <vt:lpstr>Domeniul Industrial de Interes (DII)</vt:lpstr>
      <vt:lpstr>Stadiul Actual și Îmbunătățiri </vt:lpstr>
      <vt:lpstr>Beneficii Măsurabile </vt:lpstr>
      <vt:lpstr>Surse: </vt:lpstr>
      <vt:lpstr>Descrierea Sistemului cu Inteligență Artificială (SIA-CNC)</vt:lpstr>
      <vt:lpstr>Arhitectura și Componentele Principale</vt:lpstr>
      <vt:lpstr>Fluxurile de Date și Tehnologii</vt:lpstr>
      <vt:lpstr>Date de Intrare/Ieșire</vt:lpstr>
      <vt:lpstr>Utilizatori Potențiali și Roluri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Alexandru Ioniță</dc:creator>
  <cp:lastModifiedBy>Alexandru Ioniță</cp:lastModifiedBy>
  <cp:revision>54</cp:revision>
  <dcterms:created xsi:type="dcterms:W3CDTF">2025-11-11T15:14:33Z</dcterms:created>
  <dcterms:modified xsi:type="dcterms:W3CDTF">2025-11-18T15:33:53Z</dcterms:modified>
</cp:coreProperties>
</file>